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holding up the paper worksheet. Everyone recognises it. Say: this is the same form, on a phone, and it does the filing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is being criticised here. The paper form is a good form. The problem is everything that happens to it afterwards: the second typing, the photographs that never quite get matched to the right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same questions, same wording as the paper form. Nothing new to learn. The review screen at the end even looks like the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it slowly. The order is deliberate: the number first, then the camera. That is what stops a photograph ending up on the wrong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people worry about. Be firm: you can catalogue all morning with no signal whatsoever and lose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save button. There is deliberately no save button, because a save button is something you can forget to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time here. Volunteers guess because they feel a blank looks like they haven't done the job. Tell them the opposite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from the side, not behind you. Never balance something fragile for a better angle — a worse photograph beats a broken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has to export anything, email anything or remember anything. The one thing to mention: sign in once on each device, or nothing is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 knows what device you are on. Phone means you are holding an object. Laptop means you are looking something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these numbers before presenting. They come from the catalogue's own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saying out loud even though the app enforces it. It reassures donors, and it tells volunteers the museum has thought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Home Screen step matters most. An app opened in a Safari tab can have its records cleared by the iPhone after a week. From the Home Screen icon, it can't.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here. The single biggest barrier is fear of doing damage. Say plainly that they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5400" b="0">
                <a:solidFill>
                  <a:srgbClr val="FFFFFF"/>
                </a:solidFill>
                <a:latin typeface="Georgia"/>
              </a:rPr>
              <a:t>The Artefact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C9A227"/>
                </a:solidFill>
                <a:latin typeface="Calibri"/>
              </a:rPr>
              <a:t>Cataloguing the collection, one object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>
                <a:solidFill>
                  <a:srgbClr val="9AA8B5"/>
                </a:solidFill>
                <a:latin typeface="Calibri"/>
              </a:rPr>
              <a:t>Don Dorrigo and Guy Fawkes Historical Society Museum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WHY WE BUILT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583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0">
                <a:solidFill>
                  <a:srgbClr val="16283C"/>
                </a:solidFill>
                <a:latin typeface="Georgia"/>
              </a:rPr>
              <a:t>The paper form works.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0">
                <a:solidFill>
                  <a:srgbClr val="16283C"/>
                </a:solidFill>
                <a:latin typeface="Georgia"/>
              </a:rPr>
              <a:t>What comes after it doesn't.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6583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0">
                <a:solidFill>
                  <a:srgbClr val="46586C"/>
                </a:solidFill>
                <a:latin typeface="Calibri"/>
              </a:rPr>
              <a:t>Someone fills in a two-page worksheet.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0">
                <a:solidFill>
                  <a:srgbClr val="46586C"/>
                </a:solidFill>
                <a:latin typeface="Calibri"/>
              </a:rPr>
              <a:t>Someone else types it up later.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0">
                <a:solidFill>
                  <a:srgbClr val="46586C"/>
                </a:solidFill>
                <a:latin typeface="Calibri"/>
              </a:rPr>
              <a:t>The photographs are on somebody's phone.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0">
                <a:solidFill>
                  <a:srgbClr val="46586C"/>
                </a:solidFill>
                <a:latin typeface="Calibri"/>
              </a:rPr>
              <a:t>The handwriting is not always clear.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463040"/>
            <a:ext cx="3840480" cy="4206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46586C"/>
                </a:solidFill>
                <a:latin typeface="Calibri"/>
              </a:rPr>
              <a:t>IMAGE 1</a:t>
            </a:r>
            <a:br/>
            <a:r>
              <a:rPr sz="1400" i="1">
                <a:solidFill>
                  <a:srgbClr val="46586C"/>
                </a:solidFill>
                <a:latin typeface="Calibri"/>
              </a:rPr>
              <a:t>the paper worksheet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6583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800" b="0">
                <a:solidFill>
                  <a:srgbClr val="16283C"/>
                </a:solidFill>
                <a:latin typeface="Georgia"/>
              </a:rPr>
              <a:t>The same questions.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800" b="0">
                <a:solidFill>
                  <a:srgbClr val="16283C"/>
                </a:solidFill>
                <a:latin typeface="Georgia"/>
              </a:rPr>
              <a:t>Asked one at a time.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800" b="0">
                <a:solidFill>
                  <a:srgbClr val="16283C"/>
                </a:solidFill>
                <a:latin typeface="Georgia"/>
              </a:rPr>
              <a:t>On the phone in your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46586C"/>
                </a:solidFill>
                <a:latin typeface="Calibri"/>
              </a:rPr>
              <a:t>You stand in front of the object and answer.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46586C"/>
                </a:solidFill>
                <a:latin typeface="Calibri"/>
              </a:rPr>
              <a:t>It writes the record for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463040"/>
            <a:ext cx="3840480" cy="4206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46586C"/>
                </a:solidFill>
                <a:latin typeface="Calibri"/>
              </a:rPr>
              <a:t>IMAGE 2</a:t>
            </a:r>
            <a:br/>
            <a:r>
              <a:rPr sz="1400" i="1">
                <a:solidFill>
                  <a:srgbClr val="46586C"/>
                </a:solidFill>
                <a:latin typeface="Calibri"/>
              </a:rPr>
              <a:t>volunteer with phone and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WHAT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0">
                <a:solidFill>
                  <a:srgbClr val="16283C"/>
                </a:solidFill>
                <a:latin typeface="Georgia"/>
              </a:rPr>
              <a:t>Ten screens. About ten minutes.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560320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6283C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10127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The number</a:t>
            </a:r>
          </a:p>
        </p:txBody>
      </p:sp>
      <p:sp>
        <p:nvSpPr>
          <p:cNvPr id="6" name="Oval 5"/>
          <p:cNvSpPr/>
          <p:nvPr/>
        </p:nvSpPr>
        <p:spPr>
          <a:xfrm>
            <a:off x="3063240" y="2560320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6283C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310127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Photographs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25603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3310127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What is it?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603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10127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Describe it</a:t>
            </a:r>
          </a:p>
        </p:txBody>
      </p:sp>
      <p:sp>
        <p:nvSpPr>
          <p:cNvPr id="12" name="Oval 11"/>
          <p:cNvSpPr/>
          <p:nvPr/>
        </p:nvSpPr>
        <p:spPr>
          <a:xfrm>
            <a:off x="9784080" y="25603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310127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How big?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605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032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Condition</a:t>
            </a:r>
          </a:p>
        </p:txBody>
      </p:sp>
      <p:sp>
        <p:nvSpPr>
          <p:cNvPr id="16" name="Oval 15"/>
          <p:cNvSpPr/>
          <p:nvPr/>
        </p:nvSpPr>
        <p:spPr>
          <a:xfrm>
            <a:off x="3063240" y="41605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91032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Who made it?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0" y="41605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91032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Its story</a:t>
            </a:r>
          </a:p>
        </p:txBody>
      </p:sp>
      <p:sp>
        <p:nvSpPr>
          <p:cNvPr id="20" name="Oval 19"/>
          <p:cNvSpPr/>
          <p:nvPr/>
        </p:nvSpPr>
        <p:spPr>
          <a:xfrm>
            <a:off x="7543800" y="41605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91032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Where it lives</a:t>
            </a:r>
          </a:p>
        </p:txBody>
      </p:sp>
      <p:sp>
        <p:nvSpPr>
          <p:cNvPr id="22" name="Oval 21"/>
          <p:cNvSpPr/>
          <p:nvPr/>
        </p:nvSpPr>
        <p:spPr>
          <a:xfrm>
            <a:off x="9784080" y="4160520"/>
            <a:ext cx="658368" cy="658368"/>
          </a:xfrm>
          <a:prstGeom prst="ellipse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91032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46586C"/>
                </a:solidFill>
                <a:latin typeface="Calibri"/>
              </a:rPr>
              <a:t>Check and 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>
                <a:solidFill>
                  <a:srgbClr val="3F6B57"/>
                </a:solidFill>
                <a:latin typeface="Calibri"/>
              </a:rPr>
              <a:t>The number comes first, so photographs can never be filed against the wrong object.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IN THE STORE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0">
                <a:solidFill>
                  <a:srgbClr val="16283C"/>
                </a:solidFill>
                <a:latin typeface="Georgia"/>
              </a:rPr>
              <a:t>It works with no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6766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500" b="0">
                <a:solidFill>
                  <a:srgbClr val="46586C"/>
                </a:solidFill>
                <a:latin typeface="Calibri"/>
              </a:rPr>
              <a:t>The store room has no wifi. It doesn't need any.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500" b="0">
                <a:solidFill>
                  <a:srgbClr val="46586C"/>
                </a:solidFill>
                <a:latin typeface="Calibri"/>
              </a:rPr>
              <a:t>Everything is saved on the phone as you type it, and sent to the museum later, by itself, when you're back in range.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657600" cy="38404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46586C"/>
                </a:solidFill>
                <a:latin typeface="Calibri"/>
              </a:rPr>
              <a:t>IMAGE 3</a:t>
            </a:r>
            <a:br/>
            <a:r>
              <a:rPr sz="1400" i="1">
                <a:solidFill>
                  <a:srgbClr val="46586C"/>
                </a:solidFill>
                <a:latin typeface="Calibri"/>
              </a:rPr>
              <a:t>store room shelves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600" b="0">
                <a:solidFill>
                  <a:srgbClr val="FFFFFF"/>
                </a:solidFill>
                <a:latin typeface="Georgia"/>
              </a:rPr>
              <a:t>Every word is saved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600" b="0">
                <a:solidFill>
                  <a:srgbClr val="FFFFFF"/>
                </a:solidFill>
                <a:latin typeface="Georgia"/>
              </a:rPr>
              <a:t>the moment you type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9A227"/>
                </a:solidFill>
                <a:latin typeface="Calibri"/>
              </a:rPr>
              <a:t>If the phone rings, the battery dies, or you put it down until next Saturday —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9A227"/>
                </a:solidFill>
                <a:latin typeface="Calibri"/>
              </a:rPr>
              <a:t>the record is exactly where you left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THE MOST IMPORTANT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200" b="0">
                <a:solidFill>
                  <a:srgbClr val="16283C"/>
                </a:solidFill>
                <a:latin typeface="Georgia"/>
              </a:rPr>
              <a:t>If you don't know, leave it blank.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3F6B57"/>
                </a:solidFill>
                <a:latin typeface="Calibri"/>
              </a:rPr>
              <a:t>A blank field is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A guess is a problem — because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the next person can't tell it apart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from a 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01752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3F6B57"/>
                </a:solidFill>
                <a:latin typeface="Calibri"/>
              </a:rPr>
              <a:t>"About 1890" is a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3F6B57"/>
                </a:solidFill>
                <a:latin typeface="Calibri"/>
              </a:rPr>
              <a:t>proper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29768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So is "1920s", and so is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"unknown". The app will not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make you invent a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PHOTOGRAPHS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200" b="0">
                <a:solidFill>
                  <a:srgbClr val="16283C"/>
                </a:solidFill>
                <a:latin typeface="Georgia"/>
              </a:rPr>
              <a:t>Take four.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6035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16283C"/>
                </a:solidFill>
                <a:latin typeface="Calibri"/>
              </a:rPr>
              <a:t>1.  The whole object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16283C"/>
                </a:solidFill>
                <a:latin typeface="Calibri"/>
              </a:rPr>
              <a:t>2.  Maker's marks and labels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16283C"/>
                </a:solidFill>
                <a:latin typeface="Calibri"/>
              </a:rPr>
              <a:t>3.  Any damage or repair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16283C"/>
                </a:solidFill>
                <a:latin typeface="Calibri"/>
              </a:rPr>
              <a:t>4.  One with a ruler in 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6035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3F6B57"/>
                </a:solidFill>
                <a:latin typeface="Calibri"/>
              </a:rPr>
              <a:t>Someone in fifty years may never see this object.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3F6B57"/>
                </a:solidFill>
                <a:latin typeface="Calibri"/>
              </a:rPr>
              <a:t>They will see your photograph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4206240" cy="43891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46586C"/>
                </a:solidFill>
                <a:latin typeface="Calibri"/>
              </a:rPr>
              <a:t>IMAGE 4</a:t>
            </a:r>
            <a:br/>
            <a:r>
              <a:rPr sz="1400" i="1">
                <a:solidFill>
                  <a:srgbClr val="46586C"/>
                </a:solidFill>
                <a:latin typeface="Calibri"/>
              </a:rPr>
              <a:t>four views of one object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WHERE YOUR WORK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0">
                <a:solidFill>
                  <a:srgbClr val="16283C"/>
                </a:solidFill>
                <a:latin typeface="Georgia"/>
              </a:rPr>
              <a:t>Three places,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29184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C9A227"/>
                </a:solidFill>
                <a:latin typeface="Georgia"/>
              </a:rPr>
              <a:t>Your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Saved as you type,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with or without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33832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000" b="0">
                <a:solidFill>
                  <a:srgbClr val="46586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468880"/>
            <a:ext cx="329184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92040" y="27432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16283C"/>
                </a:solidFill>
                <a:latin typeface="Georgia"/>
              </a:rPr>
              <a:t>The museum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47472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Sent by itself when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you're back in 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3832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000" b="0">
                <a:solidFill>
                  <a:srgbClr val="46586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68880"/>
            <a:ext cx="329184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F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0" y="27432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3F6B57"/>
                </a:solidFill>
                <a:latin typeface="Georgia"/>
              </a:rPr>
              <a:t>eHive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The museum's public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catalogue, worldwide.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3F6B57"/>
                </a:solidFill>
                <a:latin typeface="Calibri"/>
              </a:rPr>
              <a:t>You don't have to do anything to make this happen.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LOOKING THINGS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0">
                <a:solidFill>
                  <a:srgbClr val="16283C"/>
                </a:solidFill>
                <a:latin typeface="Georgia"/>
              </a:rPr>
              <a:t>The whole collection,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0">
                <a:solidFill>
                  <a:srgbClr val="16283C"/>
                </a:solidFill>
                <a:latin typeface="Georgia"/>
              </a:rPr>
              <a:t>searchable.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6400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Type a name, a number, a maker — anything.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On a computer it opens straight to the catalogue.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6586C"/>
                </a:solidFill>
                <a:latin typeface="Calibri"/>
              </a:rPr>
              <a:t>On a phone it opens ready to catalogue.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554480"/>
            <a:ext cx="3840480" cy="40233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46586C"/>
                </a:solidFill>
                <a:latin typeface="Calibri"/>
              </a:rPr>
              <a:t>IMAGE 5</a:t>
            </a:r>
            <a:br/>
            <a:r>
              <a:rPr sz="1400" i="1">
                <a:solidFill>
                  <a:srgbClr val="46586C"/>
                </a:solidFill>
                <a:latin typeface="Calibri"/>
              </a:rPr>
              <a:t>search results on a laptop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Where we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7600" b="0">
                <a:solidFill>
                  <a:srgbClr val="C9A227"/>
                </a:solidFill>
                <a:latin typeface="Georgia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objects in the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37744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7600" b="0">
                <a:solidFill>
                  <a:srgbClr val="C9A227"/>
                </a:solidFill>
                <a:latin typeface="Georgia"/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93192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photographs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attached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37744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7600" b="0">
                <a:solidFill>
                  <a:srgbClr val="C9A227"/>
                </a:solidFill>
                <a:latin typeface="Georgia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93192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records held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in eHive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>
                <a:solidFill>
                  <a:srgbClr val="9AA8B5"/>
                </a:solidFill>
                <a:latin typeface="Calibri"/>
              </a:rPr>
              <a:t>Every object the museum already had in eHive is now in the app, with its photographs.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SOMETHING WE DELIBERATELY LEFT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800" b="0">
                <a:solidFill>
                  <a:srgbClr val="16283C"/>
                </a:solidFill>
                <a:latin typeface="Georgia"/>
              </a:rPr>
              <a:t>The app never asks for donor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A33B32"/>
                </a:solidFill>
                <a:latin typeface="Calibri"/>
              </a:rPr>
              <a:t>No name. No address. No phone number. No email.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0">
                <a:solidFill>
                  <a:srgbClr val="46586C"/>
                </a:solidFill>
                <a:latin typeface="Calibri"/>
              </a:rPr>
              <a:t>Those are personal details about living people. They belong with the deed of gift, kept by the committee — not on a phone that gets passed around, and never in anything the app sends anywhere.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0">
                <a:solidFill>
                  <a:srgbClr val="46586C"/>
                </a:solidFill>
                <a:latin typeface="Calibri"/>
              </a:rPr>
              <a:t>If someone tells you donor details while you're cataloguing, pass them to the committee rather than typing them 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640080" y="411480"/>
            <a:ext cx="3291840" cy="566928"/>
          </a:xfrm>
          <a:prstGeom prst="homePlat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6283C"/>
                </a:solidFill>
                <a:latin typeface="Calibri"/>
              </a:rP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800" b="0">
                <a:solidFill>
                  <a:srgbClr val="16283C"/>
                </a:solidFill>
                <a:latin typeface="Georgia"/>
              </a:rPr>
              <a:t>Three things, once.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6283C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317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16283C"/>
                </a:solidFill>
                <a:latin typeface="Calibri"/>
              </a:rPr>
              <a:t>Add it to your Home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80360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Open it in Safari, tap Share, then Add to Home Screen. Always open it from that icon.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749039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6283C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703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16283C"/>
                </a:solidFill>
                <a:latin typeface="Calibri"/>
              </a:rPr>
              <a:t>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51959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Your email address, then a short code we send you. No password to remember.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6283C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0749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16283C"/>
                </a:solidFill>
                <a:latin typeface="Calibri"/>
              </a:rPr>
              <a:t>Check the name at the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623559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46586C"/>
                </a:solidFill>
                <a:latin typeface="Calibri"/>
              </a:rPr>
              <a:t>It should be yours. On a shared museum iPad, tap to change it before you start.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5200" b="0">
                <a:solidFill>
                  <a:srgbClr val="FFFFFF"/>
                </a:solidFill>
                <a:latin typeface="Georgia"/>
              </a:rPr>
              <a:t>You can't break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9A227"/>
                </a:solidFill>
                <a:latin typeface="Calibri"/>
              </a:rPr>
              <a:t>There is no wrong button. Nothing is deleted. Every earlier version is kept,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9A227"/>
                </a:solidFill>
                <a:latin typeface="Calibri"/>
              </a:rPr>
              <a:t>and someone checks each record before it becomes part of the catalogue.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9A227"/>
                </a:solidFill>
                <a:latin typeface="Calibri"/>
              </a:rPr>
              <a:t>If you're unsure, stop and ask. Nothing about cataloguing is urgent.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